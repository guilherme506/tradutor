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TRADUTOR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D4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Documentação de Negócios, Requisitos e Modelagem UML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9C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ODS 4 – Educação de Qualidade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Disciplina: Análise e Projeto de Sistemas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Curso: Ciências da Computação – UDF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Professor: Gabriel de Oliveira Alves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Brasília –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(10 minutos)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Tradutor  |  UDF – Ciências da Computação  |  2/12</a:t>
            </a:r>
            <a:endParaRPr lang="en-US" sz="1000" dirty="0"/>
          </a:p>
        </p:txBody>
      </p:sp>
      <p:sp>
        <p:nvSpPr>
          <p:cNvPr id="12" name="TextBox 11"/>
          <p:cNvSpPr txBox="1"/>
          <p:nvPr/>
        </p:nvSpPr>
        <p:spPr>
          <a:xfrm>
            <a:off x="731520" y="1005840"/>
            <a:ext cx="7772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Arial"/>
              </a:defRPr>
            </a:pPr>
            <a:r>
              <a:t>1. Problema, público-alvo e justificativa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Arial"/>
              </a:defRPr>
            </a:pPr>
            <a:r>
              <a:t>2. ODS 4 – Educação de Qualidade e contribuição do projeto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Arial"/>
              </a:defRPr>
            </a:pPr>
            <a:r>
              <a:t>3. Objetivos e escopo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Arial"/>
              </a:defRPr>
            </a:pPr>
            <a:r>
              <a:t>4. Requisitos e regras de negócio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Arial"/>
              </a:defRPr>
            </a:pPr>
            <a:r>
              <a:t>5. Diagramas UML e relação com os requisitos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Arial"/>
              </a:defRPr>
            </a:pPr>
            <a:r>
              <a:t>6. Demonstração do protótipo funcional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Arial"/>
              </a:defRPr>
            </a:pPr>
            <a:r>
              <a:t>7. Decisões de modelagem, limitações e aprendizados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Problema, Público-alvo e Justificativa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2743200" cy="3474720"/>
          </a:xfrm>
          <a:prstGeom prst="roundRect">
            <a:avLst>
              <a:gd name="adj" fmla="val 2667"/>
            </a:avLst>
          </a:prstGeom>
          <a:solidFill>
            <a:srgbClr val="D4E6F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960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24688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Materiais acadêmicos e técnicos em idiomas estrangeiros dificultam a leitura. Tradução manual é lenta. PDFs digitalizados não permitem seleção de texto.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46120" y="822960"/>
            <a:ext cx="2743200" cy="3474720"/>
          </a:xfrm>
          <a:prstGeom prst="roundRect">
            <a:avLst>
              <a:gd name="adj" fmla="val 2667"/>
            </a:avLst>
          </a:prstGeom>
          <a:solidFill>
            <a:srgbClr val="E8F8F5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960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6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é afetado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383280" y="1371600"/>
            <a:ext cx="24688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Estudantes de graduação e pós-graduação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Pesquisadores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Profissionais que utilizam manuais técnicos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Leitores de livros digitais em outros idiomas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822960"/>
            <a:ext cx="2651760" cy="3474720"/>
          </a:xfrm>
          <a:prstGeom prst="roundRect">
            <a:avLst>
              <a:gd name="adj" fmla="val 2759"/>
            </a:avLst>
          </a:prstGeom>
          <a:solidFill>
            <a:srgbClr val="FEF9E7"/>
          </a:solidFill>
          <a:ln/>
        </p:spPr>
      </p:sp>
      <p:sp>
        <p:nvSpPr>
          <p:cNvPr id="10" name="Text 8"/>
          <p:cNvSpPr/>
          <p:nvPr/>
        </p:nvSpPr>
        <p:spPr>
          <a:xfrm>
            <a:off x="6263640" y="9601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977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Justificativa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263640" y="1371600"/>
            <a:ext cx="23774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Automatizar a tradução de PDF e EPUB reduz a barreira linguística e o tempo perdido com cópia e tradução página a página.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Tradutor  |  UDF – Ciências da Computação  |  3/13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ODS 4 – Educação de Qualidade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40080"/>
            <a:ext cx="8412480" cy="1005840"/>
          </a:xfrm>
          <a:prstGeom prst="roundRect">
            <a:avLst>
              <a:gd name="adj" fmla="val 7273"/>
            </a:avLst>
          </a:prstGeom>
          <a:solidFill>
            <a:srgbClr val="E8F8F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777240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ODS selecionado: 4 – Educação de Qualidade (Agenda 2030 – Nações Unidas)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Metas relacionadas: 4.4 (competências relevantes) e 4.5 (acesso equitativo à educação)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977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as funcionalidades contribuem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Extração + OCR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60320" y="224028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traduzir materiais digitalizados e livros sem texto selecionável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Tradução local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60320" y="269748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Reduz dependência de serviços pagos e amplia acesso equitativo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154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e EPUB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60320" y="315468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Atende os formatos mais usados em materiais acadêmicos e livros digitais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611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Saída automática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60320" y="361188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 documento traduzido pronto para estudo, sem interrupção da leitura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Tradutor  |  UDF – Ciências da Computação  |  4/13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Resultados esperados e acompanhamento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4114800" cy="3383280"/>
          </a:xfrm>
          <a:prstGeom prst="roundRect">
            <a:avLst>
              <a:gd name="adj" fmla="val 2162"/>
            </a:avLst>
          </a:prstGeom>
          <a:solidFill>
            <a:srgbClr val="D4E6F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esperados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Maior agilidade na leitura de materiais internacionais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Redução do tempo dedicado à tradução manual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Maior autonomia do estudante/pesquisador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Acesso a conteúdos que antes eram inacessíveis por barreira linguística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Base para evolução de ferramentas de apoio ao estudo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777240"/>
            <a:ext cx="4114800" cy="3383280"/>
          </a:xfrm>
          <a:prstGeom prst="roundRect">
            <a:avLst>
              <a:gd name="adj" fmla="val 2162"/>
            </a:avLst>
          </a:prstGeom>
          <a:solidFill>
            <a:srgbClr val="E8F8F5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914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6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acompanhar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46320" y="137160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Tempo médio de processamento por documento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Taxa de conclusão bem-sucedida das traduções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Feedback dos usuários sobre legibilidade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Número de formatos e idiomas suportados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Evolução da preservação de layout (melhorias futuras)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Tradutor  |  UDF – Ciências da Computação  |  5/13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Objetivos e Escopo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977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Geral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Documentar e modelar o sistema Tradutor, especificando funcionalidades, restrições, regras de negócio e fluxos por meio de diagramas UML.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977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Escopo delimitado (compatível com o tempo disponível)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Incluído: seleção de arquivo, validação, extração (PDF/EPUB), OCR condicional, tradução por blocos, geração e gravação do arquivo traduzido.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Fora do escopo: autenticação, cadastro de usuários, armazenamento em nuvem, administração multiusuário, interface web completa.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Tecnologias: Python, PyMuPDF, Tesseract OCR, Argos Translate, EbookLib, BeautifulSoup.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Tradutor  |  UDF – Ciências da Computação  |  6/13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Requisitos Funcionais (resumo)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4114800" cy="530352"/>
          </a:xfrm>
          <a:prstGeom prst="roundRect">
            <a:avLst>
              <a:gd name="adj" fmla="val 8621"/>
            </a:avLst>
          </a:prstGeom>
          <a:solidFill>
            <a:srgbClr val="D4E6F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77724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" y="777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Selecionar documento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4114800" cy="530352"/>
          </a:xfrm>
          <a:prstGeom prst="roundRect">
            <a:avLst>
              <a:gd name="adj" fmla="val 8621"/>
            </a:avLst>
          </a:prstGeom>
          <a:solidFill>
            <a:srgbClr val="D4E6F1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41732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RF02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14173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 formato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4114800" cy="530352"/>
          </a:xfrm>
          <a:prstGeom prst="roundRect">
            <a:avLst>
              <a:gd name="adj" fmla="val 8621"/>
            </a:avLst>
          </a:prstGeom>
          <a:solidFill>
            <a:srgbClr val="D4E6F1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05740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RF03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71600" y="2057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 arquivo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606040"/>
            <a:ext cx="4114800" cy="530352"/>
          </a:xfrm>
          <a:prstGeom prst="roundRect">
            <a:avLst>
              <a:gd name="adj" fmla="val 8621"/>
            </a:avLst>
          </a:prstGeom>
          <a:solidFill>
            <a:srgbClr val="D4E6F1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6974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RF04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71600" y="26974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Extrair conteúdo PDF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246120"/>
            <a:ext cx="4114800" cy="530352"/>
          </a:xfrm>
          <a:prstGeom prst="roundRect">
            <a:avLst>
              <a:gd name="adj" fmla="val 8621"/>
            </a:avLst>
          </a:prstGeom>
          <a:solidFill>
            <a:srgbClr val="D4E6F1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3375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RF05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33375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Processar conteúdo EPUB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685800"/>
            <a:ext cx="4114800" cy="530352"/>
          </a:xfrm>
          <a:prstGeom prst="roundRect">
            <a:avLst>
              <a:gd name="adj" fmla="val 8621"/>
            </a:avLst>
          </a:prstGeom>
          <a:solidFill>
            <a:srgbClr val="D4E6F1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77724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RF06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760720" y="777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Reconhecer texto por OCR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0" y="1325880"/>
            <a:ext cx="4114800" cy="530352"/>
          </a:xfrm>
          <a:prstGeom prst="roundRect">
            <a:avLst>
              <a:gd name="adj" fmla="val 8621"/>
            </a:avLst>
          </a:prstGeom>
          <a:solidFill>
            <a:srgbClr val="D4E6F1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141732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RF07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760720" y="14173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Traduzir conteúdo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1965960"/>
            <a:ext cx="4114800" cy="530352"/>
          </a:xfrm>
          <a:prstGeom prst="roundRect">
            <a:avLst>
              <a:gd name="adj" fmla="val 8621"/>
            </a:avLst>
          </a:prstGeom>
          <a:solidFill>
            <a:srgbClr val="D4E6F1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205740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RF08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760720" y="2057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Gerar documento traduzido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754880" y="2606040"/>
            <a:ext cx="4114800" cy="530352"/>
          </a:xfrm>
          <a:prstGeom prst="roundRect">
            <a:avLst>
              <a:gd name="adj" fmla="val 8621"/>
            </a:avLst>
          </a:prstGeom>
          <a:solidFill>
            <a:srgbClr val="D4E6F1"/>
          </a:solidFill>
          <a:ln/>
        </p:spPr>
      </p:sp>
      <p:sp>
        <p:nvSpPr>
          <p:cNvPr id="28" name="Text 26"/>
          <p:cNvSpPr/>
          <p:nvPr/>
        </p:nvSpPr>
        <p:spPr>
          <a:xfrm>
            <a:off x="4892040" y="26974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RF09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760720" y="26974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Salvar resultado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754880" y="3246120"/>
            <a:ext cx="4114800" cy="530352"/>
          </a:xfrm>
          <a:prstGeom prst="roundRect">
            <a:avLst>
              <a:gd name="adj" fmla="val 8621"/>
            </a:avLst>
          </a:prstGeom>
          <a:solidFill>
            <a:srgbClr val="D4E6F1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33375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RF10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760720" y="33375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Preparar idiomas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Tradutor  |  UDF – Ciências da Computação  |  7/13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Regras de Negócio (principais)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77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463040" y="7315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Somente PDF e EPUB são aceitos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77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RN02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463040" y="117043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Fluxos distintos para PDF e EPUB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0934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77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RN03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1609344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apenas quando texto não for extraível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048256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77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RN04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63040" y="2048256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Tradução exige pacotes de idioma instalados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48716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77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RN05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63040" y="2487168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Processamento do conteúdo em blocos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29260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77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RN06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63040" y="29260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Formato de saída = formato de entrada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36499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77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RN07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63040" y="336499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Confirmação só após gravação bem-sucedida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380390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77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RN08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63040" y="3803904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Arquivo salvo no ambiente local do usuário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Tradutor  |  UDF – Ciências da Computação  |  8/13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Diagramas UML e relação com os requisitos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2057400" cy="1554480"/>
          </a:xfrm>
          <a:prstGeom prst="roundRect">
            <a:avLst>
              <a:gd name="adj" fmla="val 4706"/>
            </a:avLst>
          </a:prstGeom>
          <a:solidFill>
            <a:srgbClr val="D4E6F1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91440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de Uso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137160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RF01–RF10 → UC01 a UC07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82880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funcional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14600" y="731520"/>
            <a:ext cx="2057400" cy="1554480"/>
          </a:xfrm>
          <a:prstGeom prst="roundRect">
            <a:avLst>
              <a:gd name="adj" fmla="val 4706"/>
            </a:avLst>
          </a:prstGeom>
          <a:solidFill>
            <a:srgbClr val="D4E6F1"/>
          </a:solidFill>
          <a:ln/>
        </p:spPr>
      </p:sp>
      <p:sp>
        <p:nvSpPr>
          <p:cNvPr id="8" name="Text 6"/>
          <p:cNvSpPr/>
          <p:nvPr/>
        </p:nvSpPr>
        <p:spPr>
          <a:xfrm>
            <a:off x="2606040" y="91440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606040" y="137160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Documento, Serviços, Saída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06040" y="182880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estática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731520"/>
            <a:ext cx="2057400" cy="1554480"/>
          </a:xfrm>
          <a:prstGeom prst="roundRect">
            <a:avLst>
              <a:gd name="adj" fmla="val 4706"/>
            </a:avLst>
          </a:prstGeom>
          <a:solidFill>
            <a:srgbClr val="D4E6F1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91440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Atividades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00600" y="137160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RF02–RF09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00600" y="182880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 completo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03720" y="731520"/>
            <a:ext cx="2057400" cy="1554480"/>
          </a:xfrm>
          <a:prstGeom prst="roundRect">
            <a:avLst>
              <a:gd name="adj" fmla="val 4706"/>
            </a:avLst>
          </a:prstGeom>
          <a:solidFill>
            <a:srgbClr val="D4E6F1"/>
          </a:solidFill>
          <a:ln/>
        </p:spPr>
      </p:sp>
      <p:sp>
        <p:nvSpPr>
          <p:cNvPr id="16" name="Text 14"/>
          <p:cNvSpPr/>
          <p:nvPr/>
        </p:nvSpPr>
        <p:spPr>
          <a:xfrm>
            <a:off x="6995160" y="91440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Sequência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95160" y="137160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Chamadas entre módulos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95160" y="182880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Interação temporal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560320"/>
            <a:ext cx="2057400" cy="1554480"/>
          </a:xfrm>
          <a:prstGeom prst="roundRect">
            <a:avLst>
              <a:gd name="adj" fmla="val 4706"/>
            </a:avLst>
          </a:prstGeom>
          <a:solidFill>
            <a:srgbClr val="D4E6F1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274320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11480" y="320040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do documento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365760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e falhas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14600" y="2560320"/>
            <a:ext cx="2057400" cy="1554480"/>
          </a:xfrm>
          <a:prstGeom prst="roundRect">
            <a:avLst>
              <a:gd name="adj" fmla="val 4706"/>
            </a:avLst>
          </a:prstGeom>
          <a:solidFill>
            <a:srgbClr val="D4E6F1"/>
          </a:solidFill>
          <a:ln/>
        </p:spPr>
      </p:sp>
      <p:sp>
        <p:nvSpPr>
          <p:cNvPr id="24" name="Text 22"/>
          <p:cNvSpPr/>
          <p:nvPr/>
        </p:nvSpPr>
        <p:spPr>
          <a:xfrm>
            <a:off x="2606040" y="274320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606040" y="320040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 modular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606040" y="365760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Dependências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09160" y="2560320"/>
            <a:ext cx="2057400" cy="1554480"/>
          </a:xfrm>
          <a:prstGeom prst="roundRect">
            <a:avLst>
              <a:gd name="adj" fmla="val 4706"/>
            </a:avLst>
          </a:prstGeom>
          <a:solidFill>
            <a:srgbClr val="D4E6F1"/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274320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Objetos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00600" y="320040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Cenário concreto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00600" y="365760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Instâncias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Tradutor  |  UDF – Ciências da Computação  |  9/13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Demonstração do Protótipo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github.com/guilherme506/Tradutor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14800" cy="3108960"/>
          </a:xfrm>
          <a:prstGeom prst="roundRect">
            <a:avLst>
              <a:gd name="adj" fmla="val 2353"/>
            </a:avLst>
          </a:prstGeom>
          <a:solidFill>
            <a:srgbClr val="E8F8F5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88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6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Implementado (demonstrável)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3840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Seleção de PDF / EPUB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Validação de formato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Extração de texto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OCR para páginas-imagem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Tradução por blocos (Argos)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Geração de traduzido.pdf / .epub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Execução via linha de comando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1051560"/>
            <a:ext cx="4023360" cy="3108960"/>
          </a:xfrm>
          <a:prstGeom prst="roundRect">
            <a:avLst>
              <a:gd name="adj" fmla="val 2353"/>
            </a:avLst>
          </a:prstGeom>
          <a:solidFill>
            <a:srgbClr val="FEF9E7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188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77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Limitações atuais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1645920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Layout complexo de PDF ainda imperfecto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Interface gráfica em evolução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Cobertura de idiomas depende dos pacotes instalados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Qualidade contextual da tradução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Testes automatizados pendentes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Tradutor  |  UDF – Ciências da Computação  |  10/13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Decisões de modelagem, limitações e aprendizados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77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Decisões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Modelagem conceitual (classes e objetos) mesmo quando o código é procedural/modular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OCR modelado como comportamento condicional (não obrigatório em todos os fluxos)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Separação clara entre processamento PDF e EPUB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77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Limitações e aprendizados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Distinguir o que está no repositório do que é abstração de análise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Documentar requisitos e regras antes de expandir funcionalidades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Escopo delimitado permite demonstração real em 10 minutos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vinculação ao ODS 4 reforça a relevância social do projeto além da técnica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Tradutor  |  UDF – Ciências da Computação  |  11/13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Obrigado!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4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Perguntas?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ODS 4 – Educação de Qualidade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github.com/guilherme506/Tradutor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UDF – Ciências da Computação –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Tradutor - Documentação e Modelagem UML</dc:title>
  <dc:subject>Análise e Projeto de Sistemas - UDF</dc:subject>
  <dc:creator>Grupo - Tradutor</dc:creator>
  <cp:lastModifiedBy>Grupo - Tradutor</cp:lastModifiedBy>
  <cp:revision>1</cp:revision>
  <dcterms:created xsi:type="dcterms:W3CDTF">2026-10-29T20:54:22Z</dcterms:created>
  <dcterms:modified xsi:type="dcterms:W3CDTF">2026-10-29T20:54:22Z</dcterms:modified>
</cp:coreProperties>
</file>